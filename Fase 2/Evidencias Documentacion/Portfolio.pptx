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p:regular r:id="rId25"/>
      <p:bold r:id="rId26"/>
      <p:italic r:id="rId27"/>
      <p:boldItalic r:id="rId28"/>
    </p:embeddedFont>
    <p:embeddedFont>
      <p:font typeface="Source Code Pr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CodePr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urceCodePro-italic.fntdata"/><Relationship Id="rId30" Type="http://schemas.openxmlformats.org/officeDocument/2006/relationships/font" Target="fonts/SourceCodePr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SourceCodePr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80d1f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80d1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698f4b91b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698f4b91b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73d249d4e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673d249d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75eda3d02_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675eda3d0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673d249d4e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673d249d4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c6f80d1ff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c6f80d1f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73d249d4e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673d249d4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98f4b91bd_0_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98f4b91b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98f4b91bd_0_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698f4b91b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98f4b91bd_0_7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98f4b91b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698f4b91bd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698f4b91b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9a1954582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69a195458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69a1954582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69a19545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673d249d4e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673d249d4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69ab22d28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69ab22d2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69a1954582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69a195458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c6f80d1ff_0_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c6f80d1f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9a195458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69a195458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c6f80d1ff_0_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c6f80d1f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drive.google.com/file/d/1pGR48I3A6vZnNJZJH5u65toaAiA5D614/view" TargetMode="External"/><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621700" y="1732947"/>
            <a:ext cx="8222100" cy="83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Proyecto Capstone </a:t>
            </a:r>
            <a:endParaRPr/>
          </a:p>
          <a:p>
            <a:pPr indent="0" lvl="0" marL="0" rtl="0" algn="l">
              <a:spcBef>
                <a:spcPts val="0"/>
              </a:spcBef>
              <a:spcAft>
                <a:spcPts val="0"/>
              </a:spcAft>
              <a:buNone/>
            </a:pPr>
            <a:r>
              <a:rPr lang="es-419"/>
              <a:t>MediTrack</a:t>
            </a:r>
            <a:endParaRPr/>
          </a:p>
        </p:txBody>
      </p:sp>
      <p:sp>
        <p:nvSpPr>
          <p:cNvPr id="86" name="Google Shape;86;p13"/>
          <p:cNvSpPr txBox="1"/>
          <p:nvPr>
            <p:ph idx="1" type="subTitle"/>
          </p:nvPr>
        </p:nvSpPr>
        <p:spPr>
          <a:xfrm>
            <a:off x="621700" y="3342350"/>
            <a:ext cx="6410700" cy="1260600"/>
          </a:xfrm>
          <a:prstGeom prst="rect">
            <a:avLst/>
          </a:prstGeom>
        </p:spPr>
        <p:txBody>
          <a:bodyPr anchorCtr="0" anchor="t" bIns="91425" lIns="91425" spcFirstLastPara="1" rIns="91425" wrap="square" tIns="91425">
            <a:normAutofit fontScale="40000" lnSpcReduction="10000"/>
          </a:bodyPr>
          <a:lstStyle/>
          <a:p>
            <a:pPr indent="0" lvl="0" marL="0" rtl="0" algn="l">
              <a:lnSpc>
                <a:spcPct val="150000"/>
              </a:lnSpc>
              <a:spcBef>
                <a:spcPts val="0"/>
              </a:spcBef>
              <a:spcAft>
                <a:spcPts val="0"/>
              </a:spcAft>
              <a:buNone/>
            </a:pPr>
            <a:r>
              <a:rPr lang="es-419"/>
              <a:t>Carrera: Ingeniería en </a:t>
            </a:r>
            <a:r>
              <a:rPr lang="es-419"/>
              <a:t>informática</a:t>
            </a:r>
            <a:endParaRPr/>
          </a:p>
          <a:p>
            <a:pPr indent="0" lvl="0" marL="0" rtl="0" algn="l">
              <a:lnSpc>
                <a:spcPct val="150000"/>
              </a:lnSpc>
              <a:spcBef>
                <a:spcPts val="0"/>
              </a:spcBef>
              <a:spcAft>
                <a:spcPts val="0"/>
              </a:spcAft>
              <a:buNone/>
            </a:pPr>
            <a:r>
              <a:rPr lang="es-419"/>
              <a:t>Docente: Aldo Martinez </a:t>
            </a:r>
            <a:r>
              <a:rPr lang="es-419"/>
              <a:t>Órdenes</a:t>
            </a:r>
            <a:endParaRPr/>
          </a:p>
          <a:p>
            <a:pPr indent="0" lvl="0" marL="0" rtl="0" algn="l">
              <a:lnSpc>
                <a:spcPct val="150000"/>
              </a:lnSpc>
              <a:spcBef>
                <a:spcPts val="0"/>
              </a:spcBef>
              <a:spcAft>
                <a:spcPts val="0"/>
              </a:spcAft>
              <a:buNone/>
            </a:pPr>
            <a:r>
              <a:rPr lang="es-419"/>
              <a:t>Sección: 003D</a:t>
            </a:r>
            <a:endParaRPr/>
          </a:p>
          <a:p>
            <a:pPr indent="0" lvl="0" marL="0" rtl="0" algn="l">
              <a:lnSpc>
                <a:spcPct val="150000"/>
              </a:lnSpc>
              <a:spcBef>
                <a:spcPts val="0"/>
              </a:spcBef>
              <a:spcAft>
                <a:spcPts val="0"/>
              </a:spcAft>
              <a:buNone/>
            </a:pPr>
            <a:r>
              <a:rPr lang="es-419"/>
              <a:t>Integrantes: Alejandro Valdivia</a:t>
            </a:r>
            <a:endParaRPr/>
          </a:p>
          <a:p>
            <a:pPr indent="0" lvl="0" marL="0" rtl="0" algn="l">
              <a:lnSpc>
                <a:spcPct val="150000"/>
              </a:lnSpc>
              <a:spcBef>
                <a:spcPts val="0"/>
              </a:spcBef>
              <a:spcAft>
                <a:spcPts val="0"/>
              </a:spcAft>
              <a:buNone/>
            </a:pPr>
            <a:r>
              <a:rPr lang="es-419"/>
              <a:t>Gabriela Campomanes</a:t>
            </a:r>
            <a:endParaRPr/>
          </a:p>
          <a:p>
            <a:pPr indent="0" lvl="0" marL="0" rtl="0" algn="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Introducción</a:t>
            </a:r>
            <a:endParaRPr/>
          </a:p>
        </p:txBody>
      </p:sp>
      <p:sp>
        <p:nvSpPr>
          <p:cNvPr id="92" name="Google Shape;92;p14"/>
          <p:cNvSpPr txBox="1"/>
          <p:nvPr>
            <p:ph idx="1" type="body"/>
          </p:nvPr>
        </p:nvSpPr>
        <p:spPr>
          <a:xfrm>
            <a:off x="311700" y="1178950"/>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s-419"/>
              <a:t>MediTrack es una solución digital desarrollada para optimizar la gestión de inventarios médicos en el hospital. </a:t>
            </a:r>
            <a:endParaRPr/>
          </a:p>
          <a:p>
            <a:pPr indent="0" lvl="0" marL="0" rtl="0" algn="l">
              <a:spcBef>
                <a:spcPts val="1200"/>
              </a:spcBef>
              <a:spcAft>
                <a:spcPts val="0"/>
              </a:spcAft>
              <a:buNone/>
            </a:pPr>
            <a:r>
              <a:rPr lang="es-419"/>
              <a:t>Basándose en las necesidades detectadas en el Hospital Clínico Félix Bulnes, este proyecto busca digitalizar procesos manuales y mejorar el control de insumos médicos.</a:t>
            </a:r>
            <a:endParaRPr/>
          </a:p>
          <a:p>
            <a:pPr indent="0" lvl="0" marL="0" rtl="0" algn="l">
              <a:spcBef>
                <a:spcPts val="1200"/>
              </a:spcBef>
              <a:spcAft>
                <a:spcPts val="0"/>
              </a:spcAft>
              <a:buNone/>
            </a:pPr>
            <a:r>
              <a:rPr lang="es-419"/>
              <a:t>El objetivo principal es reemplazar los sistemas tradicionales en papel por una plataforma web que permita un mejor control de stock, mayor trazabilidad y, como resultado, una atención más eficiente para los pacientes.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209850" y="40272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Problemática</a:t>
            </a:r>
            <a:endParaRPr/>
          </a:p>
        </p:txBody>
      </p:sp>
      <p:sp>
        <p:nvSpPr>
          <p:cNvPr id="98" name="Google Shape;98;p15"/>
          <p:cNvSpPr txBox="1"/>
          <p:nvPr>
            <p:ph idx="1" type="body"/>
          </p:nvPr>
        </p:nvSpPr>
        <p:spPr>
          <a:xfrm>
            <a:off x="43650" y="1180775"/>
            <a:ext cx="3090300" cy="3099900"/>
          </a:xfrm>
          <a:prstGeom prst="rect">
            <a:avLst/>
          </a:prstGeom>
        </p:spPr>
        <p:txBody>
          <a:bodyPr anchorCtr="0" anchor="t" bIns="91425" lIns="91425" spcFirstLastPara="1" rIns="91425" wrap="square" tIns="91425">
            <a:normAutofit fontScale="92500" lnSpcReduction="20000"/>
          </a:bodyPr>
          <a:lstStyle/>
          <a:p>
            <a:pPr indent="-328453" lvl="0" marL="457200" rtl="0" algn="l">
              <a:lnSpc>
                <a:spcPct val="150000"/>
              </a:lnSpc>
              <a:spcBef>
                <a:spcPts val="0"/>
              </a:spcBef>
              <a:spcAft>
                <a:spcPts val="0"/>
              </a:spcAft>
              <a:buSzPct val="100000"/>
              <a:buChar char="-"/>
            </a:pPr>
            <a:r>
              <a:rPr lang="es-419" sz="1700"/>
              <a:t>Mucho papel.</a:t>
            </a:r>
            <a:endParaRPr sz="1700"/>
          </a:p>
          <a:p>
            <a:pPr indent="-328453" lvl="0" marL="457200" rtl="0" algn="l">
              <a:lnSpc>
                <a:spcPct val="150000"/>
              </a:lnSpc>
              <a:spcBef>
                <a:spcPts val="0"/>
              </a:spcBef>
              <a:spcAft>
                <a:spcPts val="0"/>
              </a:spcAft>
              <a:buSzPct val="100000"/>
              <a:buChar char="-"/>
            </a:pPr>
            <a:r>
              <a:rPr lang="es-419" sz="1700"/>
              <a:t>Poco control de stock</a:t>
            </a:r>
            <a:endParaRPr sz="1700"/>
          </a:p>
          <a:p>
            <a:pPr indent="-328453" lvl="0" marL="457200" rtl="0" algn="l">
              <a:lnSpc>
                <a:spcPct val="150000"/>
              </a:lnSpc>
              <a:spcBef>
                <a:spcPts val="0"/>
              </a:spcBef>
              <a:spcAft>
                <a:spcPts val="0"/>
              </a:spcAft>
              <a:buSzPct val="100000"/>
              <a:buChar char="-"/>
            </a:pPr>
            <a:r>
              <a:rPr lang="es-419" sz="1700"/>
              <a:t>Mayor Gasto</a:t>
            </a:r>
            <a:endParaRPr sz="1700"/>
          </a:p>
          <a:p>
            <a:pPr indent="-328453" lvl="0" marL="457200" rtl="0" algn="l">
              <a:lnSpc>
                <a:spcPct val="150000"/>
              </a:lnSpc>
              <a:spcBef>
                <a:spcPts val="0"/>
              </a:spcBef>
              <a:spcAft>
                <a:spcPts val="0"/>
              </a:spcAft>
              <a:buSzPct val="100000"/>
              <a:buChar char="-"/>
            </a:pPr>
            <a:r>
              <a:rPr lang="es-419" sz="1700"/>
              <a:t>Mayor tiempo de espera</a:t>
            </a:r>
            <a:endParaRPr sz="1700"/>
          </a:p>
          <a:p>
            <a:pPr indent="-328453" lvl="0" marL="457200" rtl="0" algn="l">
              <a:lnSpc>
                <a:spcPct val="150000"/>
              </a:lnSpc>
              <a:spcBef>
                <a:spcPts val="0"/>
              </a:spcBef>
              <a:spcAft>
                <a:spcPts val="0"/>
              </a:spcAft>
              <a:buSzPct val="100000"/>
              <a:buChar char="-"/>
            </a:pPr>
            <a:r>
              <a:rPr lang="es-419" sz="1700"/>
              <a:t>Poca trazabilidad</a:t>
            </a:r>
            <a:endParaRPr sz="1700"/>
          </a:p>
          <a:p>
            <a:pPr indent="-328453" lvl="0" marL="457200" rtl="0" algn="l">
              <a:lnSpc>
                <a:spcPct val="150000"/>
              </a:lnSpc>
              <a:spcBef>
                <a:spcPts val="0"/>
              </a:spcBef>
              <a:spcAft>
                <a:spcPts val="0"/>
              </a:spcAft>
              <a:buSzPct val="100000"/>
              <a:buChar char="-"/>
            </a:pPr>
            <a:r>
              <a:rPr lang="es-419" sz="1700"/>
              <a:t>Peor </a:t>
            </a:r>
            <a:r>
              <a:rPr lang="es-419" sz="1700"/>
              <a:t>atención</a:t>
            </a:r>
            <a:r>
              <a:rPr lang="es-419" sz="1700"/>
              <a:t> al paciente.</a:t>
            </a:r>
            <a:endParaRPr sz="1700"/>
          </a:p>
          <a:p>
            <a:pPr indent="-328453" lvl="0" marL="457200" rtl="0" algn="l">
              <a:lnSpc>
                <a:spcPct val="150000"/>
              </a:lnSpc>
              <a:spcBef>
                <a:spcPts val="0"/>
              </a:spcBef>
              <a:spcAft>
                <a:spcPts val="0"/>
              </a:spcAft>
              <a:buSzPct val="100000"/>
              <a:buChar char="-"/>
            </a:pPr>
            <a:r>
              <a:rPr lang="es-419" sz="1700"/>
              <a:t>Mucha posibilidad de mejora</a:t>
            </a:r>
            <a:endParaRPr sz="1700"/>
          </a:p>
          <a:p>
            <a:pPr indent="-328453" lvl="0" marL="457200" rtl="0" algn="l">
              <a:lnSpc>
                <a:spcPct val="150000"/>
              </a:lnSpc>
              <a:spcBef>
                <a:spcPts val="0"/>
              </a:spcBef>
              <a:spcAft>
                <a:spcPts val="0"/>
              </a:spcAft>
              <a:buSzPct val="100000"/>
              <a:buChar char="-"/>
            </a:pPr>
            <a:r>
              <a:rPr lang="es-419" sz="1700"/>
              <a:t>“Control de paciente”</a:t>
            </a:r>
            <a:endParaRPr sz="1700"/>
          </a:p>
        </p:txBody>
      </p:sp>
      <p:pic>
        <p:nvPicPr>
          <p:cNvPr id="99" name="Google Shape;99;p15" title="20250619_152936.jpg"/>
          <p:cNvPicPr preferRelativeResize="0"/>
          <p:nvPr/>
        </p:nvPicPr>
        <p:blipFill rotWithShape="1">
          <a:blip r:embed="rId3">
            <a:alphaModFix/>
          </a:blip>
          <a:srcRect b="6009" l="6296" r="0" t="8869"/>
          <a:stretch/>
        </p:blipFill>
        <p:spPr>
          <a:xfrm>
            <a:off x="3133925" y="246625"/>
            <a:ext cx="3471076" cy="4650250"/>
          </a:xfrm>
          <a:prstGeom prst="rect">
            <a:avLst/>
          </a:prstGeom>
          <a:noFill/>
          <a:ln>
            <a:noFill/>
          </a:ln>
        </p:spPr>
      </p:pic>
      <p:pic>
        <p:nvPicPr>
          <p:cNvPr id="100" name="Google Shape;100;p15" title="20250619_152942.jpg"/>
          <p:cNvPicPr preferRelativeResize="0"/>
          <p:nvPr/>
        </p:nvPicPr>
        <p:blipFill rotWithShape="1">
          <a:blip r:embed="rId4">
            <a:alphaModFix/>
          </a:blip>
          <a:srcRect b="7074" l="6241" r="7432" t="5687"/>
          <a:stretch/>
        </p:blipFill>
        <p:spPr>
          <a:xfrm>
            <a:off x="6035925" y="255700"/>
            <a:ext cx="3108077" cy="4650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Problemática</a:t>
            </a:r>
            <a:endParaRPr/>
          </a:p>
        </p:txBody>
      </p:sp>
      <p:sp>
        <p:nvSpPr>
          <p:cNvPr id="106" name="Google Shape;106;p16"/>
          <p:cNvSpPr txBox="1"/>
          <p:nvPr>
            <p:ph idx="1" type="body"/>
          </p:nvPr>
        </p:nvSpPr>
        <p:spPr>
          <a:xfrm>
            <a:off x="311700" y="1229875"/>
            <a:ext cx="23937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Imagenes de bodega </a:t>
            </a:r>
            <a:r>
              <a:rPr lang="es-419"/>
              <a:t>principal </a:t>
            </a:r>
            <a:endParaRPr/>
          </a:p>
        </p:txBody>
      </p:sp>
      <p:pic>
        <p:nvPicPr>
          <p:cNvPr id="107" name="Google Shape;107;p16" title="20250619_152955.jpg"/>
          <p:cNvPicPr preferRelativeResize="0"/>
          <p:nvPr/>
        </p:nvPicPr>
        <p:blipFill>
          <a:blip r:embed="rId3">
            <a:alphaModFix/>
          </a:blip>
          <a:stretch>
            <a:fillRect/>
          </a:stretch>
        </p:blipFill>
        <p:spPr>
          <a:xfrm>
            <a:off x="6131149" y="453399"/>
            <a:ext cx="2732425" cy="4236698"/>
          </a:xfrm>
          <a:prstGeom prst="rect">
            <a:avLst/>
          </a:prstGeom>
          <a:noFill/>
          <a:ln>
            <a:noFill/>
          </a:ln>
        </p:spPr>
      </p:pic>
      <p:pic>
        <p:nvPicPr>
          <p:cNvPr id="108" name="Google Shape;108;p16" title="20250619_152950.jpg"/>
          <p:cNvPicPr preferRelativeResize="0"/>
          <p:nvPr/>
        </p:nvPicPr>
        <p:blipFill>
          <a:blip r:embed="rId4">
            <a:alphaModFix/>
          </a:blip>
          <a:stretch>
            <a:fillRect/>
          </a:stretch>
        </p:blipFill>
        <p:spPr>
          <a:xfrm>
            <a:off x="2900300" y="453400"/>
            <a:ext cx="2927501" cy="42366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Solución</a:t>
            </a:r>
            <a:endParaRPr/>
          </a:p>
        </p:txBody>
      </p:sp>
      <p:sp>
        <p:nvSpPr>
          <p:cNvPr id="114" name="Google Shape;114;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a:t>
            </a:r>
            <a:r>
              <a:rPr lang="es-419"/>
              <a:t> a toda la </a:t>
            </a:r>
            <a:r>
              <a:rPr lang="es-419"/>
              <a:t>problemática</a:t>
            </a:r>
            <a:r>
              <a:rPr lang="es-419"/>
              <a:t> antes planteada, como: </a:t>
            </a:r>
            <a:endParaRPr/>
          </a:p>
          <a:p>
            <a:pPr indent="0" lvl="0" marL="0" rtl="0" algn="l">
              <a:spcBef>
                <a:spcPts val="1200"/>
              </a:spcBef>
              <a:spcAft>
                <a:spcPts val="0"/>
              </a:spcAft>
              <a:buNone/>
            </a:pPr>
            <a:r>
              <a:rPr lang="es-419"/>
              <a:t>Poco o nada de papel para registros con el uso de Base de datos.</a:t>
            </a:r>
            <a:endParaRPr/>
          </a:p>
          <a:p>
            <a:pPr indent="0" lvl="0" marL="0" rtl="0" algn="l">
              <a:spcBef>
                <a:spcPts val="1200"/>
              </a:spcBef>
              <a:spcAft>
                <a:spcPts val="0"/>
              </a:spcAft>
              <a:buNone/>
            </a:pPr>
            <a:r>
              <a:rPr lang="es-419"/>
              <a:t>Control de stock con más exactitud para reducir costos y mejorar funcionamiento.</a:t>
            </a:r>
            <a:endParaRPr/>
          </a:p>
          <a:p>
            <a:pPr indent="0" lvl="0" marL="0" rtl="0" algn="l">
              <a:spcBef>
                <a:spcPts val="1200"/>
              </a:spcBef>
              <a:spcAft>
                <a:spcPts val="1200"/>
              </a:spcAft>
              <a:buNone/>
            </a:pPr>
            <a:r>
              <a:rPr lang="es-419"/>
              <a:t>Mejora en trazabilidad gracias a registros e historiales de salidas y entradas de insumos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Información</a:t>
            </a:r>
            <a:r>
              <a:rPr lang="es-419"/>
              <a:t> del proyecto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cxnSp>
        <p:nvCxnSpPr>
          <p:cNvPr id="124" name="Google Shape;124;p19"/>
          <p:cNvCxnSpPr/>
          <p:nvPr/>
        </p:nvCxnSpPr>
        <p:spPr>
          <a:xfrm flipH="1" rot="10800000">
            <a:off x="426375" y="1120308"/>
            <a:ext cx="3444000" cy="5100"/>
          </a:xfrm>
          <a:prstGeom prst="straightConnector1">
            <a:avLst/>
          </a:prstGeom>
          <a:noFill/>
          <a:ln cap="flat" cmpd="sng" w="19050">
            <a:solidFill>
              <a:schemeClr val="lt2"/>
            </a:solidFill>
            <a:prstDash val="solid"/>
            <a:round/>
            <a:headEnd len="sm" w="sm" type="none"/>
            <a:tailEnd len="sm" w="sm" type="none"/>
          </a:ln>
        </p:spPr>
      </p:cxnSp>
      <p:sp>
        <p:nvSpPr>
          <p:cNvPr id="125" name="Google Shape;125;p19"/>
          <p:cNvSpPr txBox="1"/>
          <p:nvPr>
            <p:ph idx="4294967295" type="body"/>
          </p:nvPr>
        </p:nvSpPr>
        <p:spPr>
          <a:xfrm>
            <a:off x="317475" y="595000"/>
            <a:ext cx="3378300" cy="530400"/>
          </a:xfrm>
          <a:prstGeom prst="rect">
            <a:avLst/>
          </a:prstGeom>
        </p:spPr>
        <p:txBody>
          <a:bodyPr anchorCtr="0" anchor="b" bIns="91425" lIns="91425" spcFirstLastPara="1" rIns="91425" wrap="square" tIns="91425">
            <a:normAutofit/>
          </a:bodyPr>
          <a:lstStyle/>
          <a:p>
            <a:pPr indent="0" lvl="0" marL="0" rtl="0" algn="l">
              <a:lnSpc>
                <a:spcPct val="100000"/>
              </a:lnSpc>
              <a:spcBef>
                <a:spcPts val="0"/>
              </a:spcBef>
              <a:spcAft>
                <a:spcPts val="0"/>
              </a:spcAft>
              <a:buNone/>
            </a:pPr>
            <a:r>
              <a:rPr b="1" lang="es-419" sz="2100">
                <a:solidFill>
                  <a:schemeClr val="accent3"/>
                </a:solidFill>
              </a:rPr>
              <a:t>As Is</a:t>
            </a:r>
            <a:endParaRPr b="1" sz="2100">
              <a:solidFill>
                <a:schemeClr val="accent3"/>
              </a:solidFill>
            </a:endParaRPr>
          </a:p>
        </p:txBody>
      </p:sp>
      <p:pic>
        <p:nvPicPr>
          <p:cNvPr id="126" name="Google Shape;126;p19" title="aaaaaaaaa.jpg"/>
          <p:cNvPicPr preferRelativeResize="0"/>
          <p:nvPr/>
        </p:nvPicPr>
        <p:blipFill>
          <a:blip r:embed="rId3">
            <a:alphaModFix/>
          </a:blip>
          <a:stretch>
            <a:fillRect/>
          </a:stretch>
        </p:blipFill>
        <p:spPr>
          <a:xfrm>
            <a:off x="4071750" y="0"/>
            <a:ext cx="34233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cxnSp>
        <p:nvCxnSpPr>
          <p:cNvPr id="131" name="Google Shape;131;p20"/>
          <p:cNvCxnSpPr/>
          <p:nvPr/>
        </p:nvCxnSpPr>
        <p:spPr>
          <a:xfrm>
            <a:off x="426375" y="1125408"/>
            <a:ext cx="3891000" cy="0"/>
          </a:xfrm>
          <a:prstGeom prst="straightConnector1">
            <a:avLst/>
          </a:prstGeom>
          <a:noFill/>
          <a:ln cap="flat" cmpd="sng" w="19050">
            <a:solidFill>
              <a:schemeClr val="lt2"/>
            </a:solidFill>
            <a:prstDash val="solid"/>
            <a:round/>
            <a:headEnd len="sm" w="sm" type="none"/>
            <a:tailEnd len="sm" w="sm" type="none"/>
          </a:ln>
        </p:spPr>
      </p:cxnSp>
      <p:sp>
        <p:nvSpPr>
          <p:cNvPr id="132" name="Google Shape;132;p20"/>
          <p:cNvSpPr txBox="1"/>
          <p:nvPr>
            <p:ph idx="4294967295" type="body"/>
          </p:nvPr>
        </p:nvSpPr>
        <p:spPr>
          <a:xfrm>
            <a:off x="317475" y="595000"/>
            <a:ext cx="3999900" cy="530400"/>
          </a:xfrm>
          <a:prstGeom prst="rect">
            <a:avLst/>
          </a:prstGeom>
        </p:spPr>
        <p:txBody>
          <a:bodyPr anchorCtr="0" anchor="b" bIns="91425" lIns="91425" spcFirstLastPara="1" rIns="91425" wrap="square" tIns="91425">
            <a:normAutofit/>
          </a:bodyPr>
          <a:lstStyle/>
          <a:p>
            <a:pPr indent="0" lvl="0" marL="0" rtl="0" algn="l">
              <a:lnSpc>
                <a:spcPct val="100000"/>
              </a:lnSpc>
              <a:spcBef>
                <a:spcPts val="0"/>
              </a:spcBef>
              <a:spcAft>
                <a:spcPts val="0"/>
              </a:spcAft>
              <a:buNone/>
            </a:pPr>
            <a:r>
              <a:rPr b="1" lang="es-419" sz="2100">
                <a:solidFill>
                  <a:schemeClr val="accent3"/>
                </a:solidFill>
              </a:rPr>
              <a:t>To be</a:t>
            </a:r>
            <a:endParaRPr b="1" sz="2100">
              <a:solidFill>
                <a:schemeClr val="accent3"/>
              </a:solidFill>
            </a:endParaRPr>
          </a:p>
        </p:txBody>
      </p:sp>
      <p:pic>
        <p:nvPicPr>
          <p:cNvPr id="133" name="Google Shape;133;p20" title="aaaa.png"/>
          <p:cNvPicPr preferRelativeResize="0"/>
          <p:nvPr/>
        </p:nvPicPr>
        <p:blipFill>
          <a:blip r:embed="rId3">
            <a:alphaModFix/>
          </a:blip>
          <a:stretch>
            <a:fillRect/>
          </a:stretch>
        </p:blipFill>
        <p:spPr>
          <a:xfrm>
            <a:off x="4040900" y="0"/>
            <a:ext cx="3891000"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MediTrack</a:t>
            </a:r>
            <a:endParaRPr/>
          </a:p>
        </p:txBody>
      </p:sp>
      <p:sp>
        <p:nvSpPr>
          <p:cNvPr id="139" name="Google Shape;139;p21"/>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Visión del Administrador de bodega</a:t>
            </a:r>
            <a:endParaRPr/>
          </a:p>
        </p:txBody>
      </p:sp>
      <p:pic>
        <p:nvPicPr>
          <p:cNvPr descr="Laptop Chromebook abierto" id="140" name="Google Shape;140;p21"/>
          <p:cNvPicPr preferRelativeResize="0"/>
          <p:nvPr/>
        </p:nvPicPr>
        <p:blipFill>
          <a:blip r:embed="rId3">
            <a:alphaModFix/>
          </a:blip>
          <a:stretch>
            <a:fillRect/>
          </a:stretch>
        </p:blipFill>
        <p:spPr>
          <a:xfrm>
            <a:off x="2859800" y="697325"/>
            <a:ext cx="6185150" cy="3667749"/>
          </a:xfrm>
          <a:prstGeom prst="rect">
            <a:avLst/>
          </a:prstGeom>
          <a:noFill/>
          <a:ln>
            <a:noFill/>
          </a:ln>
        </p:spPr>
      </p:pic>
      <p:pic>
        <p:nvPicPr>
          <p:cNvPr descr="Wireframe de muestra de la aplicación para computadoras de escritorio" id="141" name="Google Shape;141;p21"/>
          <p:cNvPicPr preferRelativeResize="0"/>
          <p:nvPr/>
        </p:nvPicPr>
        <p:blipFill rotWithShape="1">
          <a:blip r:embed="rId4">
            <a:alphaModFix/>
          </a:blip>
          <a:srcRect b="24800" l="0" r="0" t="0"/>
          <a:stretch/>
        </p:blipFill>
        <p:spPr>
          <a:xfrm>
            <a:off x="4139450" y="993975"/>
            <a:ext cx="4142049" cy="2335949"/>
          </a:xfrm>
          <a:prstGeom prst="rect">
            <a:avLst/>
          </a:prstGeom>
          <a:noFill/>
          <a:ln>
            <a:noFill/>
          </a:ln>
        </p:spPr>
      </p:pic>
      <p:pic>
        <p:nvPicPr>
          <p:cNvPr id="142" name="Google Shape;142;p21"/>
          <p:cNvPicPr preferRelativeResize="0"/>
          <p:nvPr/>
        </p:nvPicPr>
        <p:blipFill>
          <a:blip r:embed="rId5">
            <a:alphaModFix/>
          </a:blip>
          <a:stretch>
            <a:fillRect/>
          </a:stretch>
        </p:blipFill>
        <p:spPr>
          <a:xfrm>
            <a:off x="3623000" y="993975"/>
            <a:ext cx="4658499" cy="25943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MediTrack</a:t>
            </a:r>
            <a:endParaRPr/>
          </a:p>
        </p:txBody>
      </p:sp>
      <p:sp>
        <p:nvSpPr>
          <p:cNvPr id="148" name="Google Shape;148;p22"/>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Visión para hacer peticiones</a:t>
            </a:r>
            <a:endParaRPr/>
          </a:p>
        </p:txBody>
      </p:sp>
      <p:pic>
        <p:nvPicPr>
          <p:cNvPr descr="Laptop Chromebook abierto" id="149" name="Google Shape;149;p22"/>
          <p:cNvPicPr preferRelativeResize="0"/>
          <p:nvPr/>
        </p:nvPicPr>
        <p:blipFill>
          <a:blip r:embed="rId3">
            <a:alphaModFix/>
          </a:blip>
          <a:stretch>
            <a:fillRect/>
          </a:stretch>
        </p:blipFill>
        <p:spPr>
          <a:xfrm>
            <a:off x="2749375" y="697325"/>
            <a:ext cx="6295573" cy="3733224"/>
          </a:xfrm>
          <a:prstGeom prst="rect">
            <a:avLst/>
          </a:prstGeom>
          <a:noFill/>
          <a:ln>
            <a:noFill/>
          </a:ln>
        </p:spPr>
      </p:pic>
      <p:pic>
        <p:nvPicPr>
          <p:cNvPr id="150" name="Google Shape;150;p22"/>
          <p:cNvPicPr preferRelativeResize="0"/>
          <p:nvPr/>
        </p:nvPicPr>
        <p:blipFill>
          <a:blip r:embed="rId4">
            <a:alphaModFix/>
          </a:blip>
          <a:stretch>
            <a:fillRect/>
          </a:stretch>
        </p:blipFill>
        <p:spPr>
          <a:xfrm>
            <a:off x="3528350" y="1030350"/>
            <a:ext cx="4634324" cy="2613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cxnSp>
        <p:nvCxnSpPr>
          <p:cNvPr id="155" name="Google Shape;155;p23"/>
          <p:cNvCxnSpPr/>
          <p:nvPr/>
        </p:nvCxnSpPr>
        <p:spPr>
          <a:xfrm>
            <a:off x="-6875" y="2900700"/>
            <a:ext cx="9150900" cy="0"/>
          </a:xfrm>
          <a:prstGeom prst="straightConnector1">
            <a:avLst/>
          </a:prstGeom>
          <a:noFill/>
          <a:ln cap="flat" cmpd="sng" w="19050">
            <a:solidFill>
              <a:schemeClr val="dk2"/>
            </a:solidFill>
            <a:prstDash val="solid"/>
            <a:round/>
            <a:headEnd len="sm" w="sm" type="none"/>
            <a:tailEnd len="sm" w="sm" type="none"/>
          </a:ln>
        </p:spPr>
      </p:cxnSp>
      <p:sp>
        <p:nvSpPr>
          <p:cNvPr id="156" name="Google Shape;156;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Habilidades</a:t>
            </a:r>
            <a:endParaRPr/>
          </a:p>
        </p:txBody>
      </p:sp>
      <p:sp>
        <p:nvSpPr>
          <p:cNvPr id="157" name="Google Shape;157;p23"/>
          <p:cNvSpPr/>
          <p:nvPr/>
        </p:nvSpPr>
        <p:spPr>
          <a:xfrm>
            <a:off x="421176" y="2235693"/>
            <a:ext cx="1329900" cy="1329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txBox="1"/>
          <p:nvPr/>
        </p:nvSpPr>
        <p:spPr>
          <a:xfrm>
            <a:off x="302975" y="2596750"/>
            <a:ext cx="1566300" cy="60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500">
                <a:solidFill>
                  <a:schemeClr val="lt1"/>
                </a:solidFill>
                <a:latin typeface="Source Code Pro"/>
                <a:ea typeface="Source Code Pro"/>
                <a:cs typeface="Source Code Pro"/>
                <a:sym typeface="Source Code Pro"/>
              </a:rPr>
              <a:t>Habilidades usadas</a:t>
            </a:r>
            <a:endParaRPr sz="1500">
              <a:solidFill>
                <a:schemeClr val="lt1"/>
              </a:solidFill>
              <a:latin typeface="Source Code Pro"/>
              <a:ea typeface="Source Code Pro"/>
              <a:cs typeface="Source Code Pro"/>
              <a:sym typeface="Source Code Pro"/>
            </a:endParaRPr>
          </a:p>
        </p:txBody>
      </p:sp>
      <p:sp>
        <p:nvSpPr>
          <p:cNvPr id="159" name="Google Shape;159;p23"/>
          <p:cNvSpPr/>
          <p:nvPr/>
        </p:nvSpPr>
        <p:spPr>
          <a:xfrm>
            <a:off x="2253122" y="1423415"/>
            <a:ext cx="2954700" cy="2954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txBox="1"/>
          <p:nvPr/>
        </p:nvSpPr>
        <p:spPr>
          <a:xfrm>
            <a:off x="2253125" y="2192350"/>
            <a:ext cx="2954700" cy="132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3000">
                <a:solidFill>
                  <a:schemeClr val="lt1"/>
                </a:solidFill>
                <a:latin typeface="Source Code Pro"/>
                <a:ea typeface="Source Code Pro"/>
                <a:cs typeface="Source Code Pro"/>
                <a:sym typeface="Source Code Pro"/>
              </a:rPr>
              <a:t>Ingenieria en Informatica</a:t>
            </a:r>
            <a:endParaRPr sz="3000">
              <a:solidFill>
                <a:schemeClr val="lt1"/>
              </a:solidFill>
              <a:latin typeface="Source Code Pro"/>
              <a:ea typeface="Source Code Pro"/>
              <a:cs typeface="Source Code Pro"/>
              <a:sym typeface="Source Code Pro"/>
            </a:endParaRPr>
          </a:p>
        </p:txBody>
      </p:sp>
      <p:sp>
        <p:nvSpPr>
          <p:cNvPr id="161" name="Google Shape;161;p23"/>
          <p:cNvSpPr/>
          <p:nvPr/>
        </p:nvSpPr>
        <p:spPr>
          <a:xfrm>
            <a:off x="5709626" y="2147440"/>
            <a:ext cx="1506600" cy="1506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a:off x="7718029" y="2394561"/>
            <a:ext cx="1012500" cy="1012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txBox="1"/>
          <p:nvPr/>
        </p:nvSpPr>
        <p:spPr>
          <a:xfrm>
            <a:off x="7644975" y="2465950"/>
            <a:ext cx="1158600" cy="86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100">
                <a:solidFill>
                  <a:schemeClr val="lt1"/>
                </a:solidFill>
                <a:latin typeface="Source Code Pro"/>
                <a:ea typeface="Source Code Pro"/>
                <a:cs typeface="Source Code Pro"/>
                <a:sym typeface="Source Code Pro"/>
              </a:rPr>
              <a:t>HTML PHP PYTHON CSS JS SQL</a:t>
            </a:r>
            <a:endParaRPr sz="1100">
              <a:solidFill>
                <a:schemeClr val="lt1"/>
              </a:solidFill>
              <a:latin typeface="Source Code Pro"/>
              <a:ea typeface="Source Code Pro"/>
              <a:cs typeface="Source Code Pro"/>
              <a:sym typeface="Source Code Pro"/>
            </a:endParaRPr>
          </a:p>
        </p:txBody>
      </p:sp>
      <p:sp>
        <p:nvSpPr>
          <p:cNvPr id="164" name="Google Shape;164;p23"/>
          <p:cNvSpPr txBox="1"/>
          <p:nvPr/>
        </p:nvSpPr>
        <p:spPr>
          <a:xfrm>
            <a:off x="5797975" y="2394550"/>
            <a:ext cx="1329900" cy="86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1200">
                <a:solidFill>
                  <a:schemeClr val="lt1"/>
                </a:solidFill>
                <a:latin typeface="Source Code Pro"/>
                <a:ea typeface="Source Code Pro"/>
                <a:cs typeface="Source Code Pro"/>
                <a:sym typeface="Source Code Pro"/>
              </a:rPr>
              <a:t>Gestión</a:t>
            </a:r>
            <a:r>
              <a:rPr lang="es-419" sz="1200">
                <a:solidFill>
                  <a:schemeClr val="lt1"/>
                </a:solidFill>
                <a:latin typeface="Source Code Pro"/>
                <a:ea typeface="Source Code Pro"/>
                <a:cs typeface="Source Code Pro"/>
                <a:sym typeface="Source Code Pro"/>
              </a:rPr>
              <a:t> de proyectos </a:t>
            </a:r>
            <a:r>
              <a:rPr lang="es-419" sz="1200">
                <a:solidFill>
                  <a:schemeClr val="lt1"/>
                </a:solidFill>
                <a:latin typeface="Source Code Pro"/>
                <a:ea typeface="Source Code Pro"/>
                <a:cs typeface="Source Code Pro"/>
                <a:sym typeface="Source Code Pro"/>
              </a:rPr>
              <a:t>informáticos</a:t>
            </a:r>
            <a:endParaRPr sz="1200">
              <a:solidFill>
                <a:schemeClr val="lt1"/>
              </a:solidFill>
              <a:latin typeface="Source Code Pro"/>
              <a:ea typeface="Source Code Pro"/>
              <a:cs typeface="Source Code Pro"/>
              <a:sym typeface="Source Code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623400" y="22812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Soft Skills</a:t>
            </a:r>
            <a:endParaRPr/>
          </a:p>
        </p:txBody>
      </p:sp>
      <p:sp>
        <p:nvSpPr>
          <p:cNvPr id="170" name="Google Shape;170;p24"/>
          <p:cNvSpPr txBox="1"/>
          <p:nvPr>
            <p:ph idx="1" type="body"/>
          </p:nvPr>
        </p:nvSpPr>
        <p:spPr>
          <a:xfrm>
            <a:off x="487525" y="899625"/>
            <a:ext cx="7464300" cy="3421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000000"/>
              </a:buClr>
              <a:buSzPts val="1800"/>
              <a:buChar char="●"/>
            </a:pPr>
            <a:r>
              <a:rPr lang="es-419">
                <a:solidFill>
                  <a:srgbClr val="000000"/>
                </a:solidFill>
              </a:rPr>
              <a:t>Planificación, coordinación y seguimiento de proyectos informáticos.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s-419">
                <a:solidFill>
                  <a:srgbClr val="000000"/>
                </a:solidFill>
              </a:rPr>
              <a:t>Gestión de proyectos.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s-419">
                <a:solidFill>
                  <a:srgbClr val="000000"/>
                </a:solidFill>
              </a:rPr>
              <a:t>Colaboración efectiva con profesionales de diversas disciplinas.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s-419">
                <a:solidFill>
                  <a:srgbClr val="000000"/>
                </a:solidFill>
              </a:rPr>
              <a:t>Capacidad de explicar soluciones técnicas a públicos no especializados.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s-419">
                <a:solidFill>
                  <a:srgbClr val="000000"/>
                </a:solidFill>
              </a:rPr>
              <a:t>Identificar, analizar y solucionar problemas de forma lógica y eficiente.</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s-419">
                <a:solidFill>
                  <a:srgbClr val="000000"/>
                </a:solidFill>
              </a:rPr>
              <a:t>Compromiso con la seguridad, privacidad y el uso ético de la tecnología.</a:t>
            </a:r>
            <a:endParaRPr>
              <a:solidFill>
                <a:srgbClr val="000000"/>
              </a:solidFill>
            </a:endParaRPr>
          </a:p>
          <a:p>
            <a:pPr indent="0" lvl="0" marL="0" rtl="0" algn="l">
              <a:lnSpc>
                <a:spcPct val="115000"/>
              </a:lnSpc>
              <a:spcBef>
                <a:spcPts val="1200"/>
              </a:spcBef>
              <a:spcAft>
                <a:spcPts val="1200"/>
              </a:spcAft>
              <a:buNone/>
            </a:pPr>
            <a:r>
              <a:t/>
            </a:r>
            <a:endParaRPr>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529950" y="4245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Hard Skills</a:t>
            </a:r>
            <a:endParaRPr/>
          </a:p>
        </p:txBody>
      </p:sp>
      <p:sp>
        <p:nvSpPr>
          <p:cNvPr id="176" name="Google Shape;176;p25"/>
          <p:cNvSpPr txBox="1"/>
          <p:nvPr>
            <p:ph idx="1" type="body"/>
          </p:nvPr>
        </p:nvSpPr>
        <p:spPr>
          <a:xfrm>
            <a:off x="386550" y="1111950"/>
            <a:ext cx="8045400" cy="291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Se utilizaron </a:t>
            </a:r>
            <a:r>
              <a:rPr lang="es-419"/>
              <a:t>Lenguajes como:	PHP, Python, JavaScript, SQL.</a:t>
            </a:r>
            <a:endParaRPr/>
          </a:p>
          <a:p>
            <a:pPr indent="-342900" lvl="0" marL="457200" rtl="0" algn="l">
              <a:spcBef>
                <a:spcPts val="0"/>
              </a:spcBef>
              <a:spcAft>
                <a:spcPts val="0"/>
              </a:spcAft>
              <a:buSzPts val="1800"/>
              <a:buChar char="●"/>
            </a:pPr>
            <a:r>
              <a:rPr lang="es-419"/>
              <a:t>Para el FrontEnd se </a:t>
            </a:r>
            <a:r>
              <a:rPr lang="es-419"/>
              <a:t>utilizó</a:t>
            </a:r>
            <a:r>
              <a:rPr lang="es-419"/>
              <a:t>: HTML, CSS, JS (carrito dinámico, QR reader).</a:t>
            </a:r>
            <a:endParaRPr/>
          </a:p>
          <a:p>
            <a:pPr indent="-342900" lvl="0" marL="457200" rtl="0" algn="l">
              <a:spcBef>
                <a:spcPts val="0"/>
              </a:spcBef>
              <a:spcAft>
                <a:spcPts val="0"/>
              </a:spcAft>
              <a:buSzPts val="1800"/>
              <a:buChar char="●"/>
            </a:pPr>
            <a:r>
              <a:rPr lang="es-419"/>
              <a:t>En el Backend hay un Manejo de sesiones, control de acceso</a:t>
            </a:r>
            <a:endParaRPr/>
          </a:p>
          <a:p>
            <a:pPr indent="-342900" lvl="0" marL="457200" rtl="0" algn="l">
              <a:spcBef>
                <a:spcPts val="0"/>
              </a:spcBef>
              <a:spcAft>
                <a:spcPts val="0"/>
              </a:spcAft>
              <a:buSzPts val="1800"/>
              <a:buChar char="●"/>
            </a:pPr>
            <a:r>
              <a:rPr lang="es-419"/>
              <a:t>Para la Base de datos	MySQL (consultas, relaciones, CRUD)</a:t>
            </a:r>
            <a:endParaRPr/>
          </a:p>
          <a:p>
            <a:pPr indent="-342900" lvl="0" marL="457200" rtl="0" algn="l">
              <a:spcBef>
                <a:spcPts val="0"/>
              </a:spcBef>
              <a:spcAft>
                <a:spcPts val="0"/>
              </a:spcAft>
              <a:buSzPts val="1800"/>
              <a:buChar char="●"/>
            </a:pPr>
            <a:r>
              <a:rPr lang="es-419"/>
              <a:t>Dev Tools: XAMPP, GitHub</a:t>
            </a:r>
            <a:endParaRPr/>
          </a:p>
          <a:p>
            <a:pPr indent="-342900" lvl="0" marL="457200" rtl="0" algn="l">
              <a:spcBef>
                <a:spcPts val="0"/>
              </a:spcBef>
              <a:spcAft>
                <a:spcPts val="0"/>
              </a:spcAft>
              <a:buSzPts val="1800"/>
              <a:buChar char="●"/>
            </a:pPr>
            <a:r>
              <a:rPr lang="es-419"/>
              <a:t>Otros:Composer, seguridad web, análisis de datos, Machine Learning básico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cxnSp>
        <p:nvCxnSpPr>
          <p:cNvPr id="181" name="Google Shape;181;p26"/>
          <p:cNvCxnSpPr/>
          <p:nvPr/>
        </p:nvCxnSpPr>
        <p:spPr>
          <a:xfrm flipH="1" rot="10800000">
            <a:off x="429050" y="601808"/>
            <a:ext cx="7282500" cy="14100"/>
          </a:xfrm>
          <a:prstGeom prst="straightConnector1">
            <a:avLst/>
          </a:prstGeom>
          <a:noFill/>
          <a:ln cap="flat" cmpd="sng" w="19050">
            <a:solidFill>
              <a:schemeClr val="lt2"/>
            </a:solidFill>
            <a:prstDash val="solid"/>
            <a:round/>
            <a:headEnd len="sm" w="sm" type="none"/>
            <a:tailEnd len="sm" w="sm" type="none"/>
          </a:ln>
        </p:spPr>
      </p:cxnSp>
      <p:sp>
        <p:nvSpPr>
          <p:cNvPr id="182" name="Google Shape;182;p26"/>
          <p:cNvSpPr txBox="1"/>
          <p:nvPr>
            <p:ph idx="4294967295" type="body"/>
          </p:nvPr>
        </p:nvSpPr>
        <p:spPr>
          <a:xfrm>
            <a:off x="429050" y="139725"/>
            <a:ext cx="5763000" cy="530400"/>
          </a:xfrm>
          <a:prstGeom prst="rect">
            <a:avLst/>
          </a:prstGeom>
        </p:spPr>
        <p:txBody>
          <a:bodyPr anchorCtr="0" anchor="b" bIns="91425" lIns="91425" spcFirstLastPara="1" rIns="91425" wrap="square" tIns="91425">
            <a:normAutofit/>
          </a:bodyPr>
          <a:lstStyle/>
          <a:p>
            <a:pPr indent="0" lvl="0" marL="0" rtl="0" algn="l">
              <a:lnSpc>
                <a:spcPct val="100000"/>
              </a:lnSpc>
              <a:spcBef>
                <a:spcPts val="0"/>
              </a:spcBef>
              <a:spcAft>
                <a:spcPts val="0"/>
              </a:spcAft>
              <a:buNone/>
            </a:pPr>
            <a:r>
              <a:rPr b="1" lang="es-419" sz="2100">
                <a:solidFill>
                  <a:schemeClr val="accent3"/>
                </a:solidFill>
              </a:rPr>
              <a:t>Metodología</a:t>
            </a:r>
            <a:endParaRPr b="1" sz="2100">
              <a:solidFill>
                <a:schemeClr val="accent3"/>
              </a:solidFill>
            </a:endParaRPr>
          </a:p>
        </p:txBody>
      </p:sp>
      <p:sp>
        <p:nvSpPr>
          <p:cNvPr id="183" name="Google Shape;183;p26"/>
          <p:cNvSpPr txBox="1"/>
          <p:nvPr>
            <p:ph idx="4294967295" type="body"/>
          </p:nvPr>
        </p:nvSpPr>
        <p:spPr>
          <a:xfrm>
            <a:off x="385400" y="615900"/>
            <a:ext cx="7486200" cy="161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200"/>
              <a:t>Se seleccionó Scrum como metodología ya que:</a:t>
            </a:r>
            <a:endParaRPr sz="1200"/>
          </a:p>
          <a:p>
            <a:pPr indent="-304800" lvl="0" marL="457200" rtl="0" algn="l">
              <a:spcBef>
                <a:spcPts val="1200"/>
              </a:spcBef>
              <a:spcAft>
                <a:spcPts val="0"/>
              </a:spcAft>
              <a:buSzPts val="1200"/>
              <a:buChar char="●"/>
            </a:pPr>
            <a:r>
              <a:rPr lang="es-419" sz="1200"/>
              <a:t>Entrega flexibilidad ante cambios.</a:t>
            </a:r>
            <a:endParaRPr sz="1200"/>
          </a:p>
          <a:p>
            <a:pPr indent="-304800" lvl="0" marL="457200" rtl="0" algn="l">
              <a:spcBef>
                <a:spcPts val="0"/>
              </a:spcBef>
              <a:spcAft>
                <a:spcPts val="0"/>
              </a:spcAft>
              <a:buSzPts val="1200"/>
              <a:buChar char="●"/>
            </a:pPr>
            <a:r>
              <a:rPr lang="es-419" sz="1200"/>
              <a:t>Cada sprint representa un avance incremental.</a:t>
            </a:r>
            <a:endParaRPr sz="1200"/>
          </a:p>
          <a:p>
            <a:pPr indent="-304800" lvl="0" marL="457200" rtl="0" algn="l">
              <a:spcBef>
                <a:spcPts val="0"/>
              </a:spcBef>
              <a:spcAft>
                <a:spcPts val="0"/>
              </a:spcAft>
              <a:buSzPts val="1200"/>
              <a:buChar char="●"/>
            </a:pPr>
            <a:r>
              <a:rPr lang="es-419" sz="1200"/>
              <a:t>Facilita la coordinación entre los roles del equipo.</a:t>
            </a:r>
            <a:endParaRPr sz="1200"/>
          </a:p>
          <a:p>
            <a:pPr indent="-304800" lvl="0" marL="457200" rtl="0" algn="l">
              <a:spcBef>
                <a:spcPts val="0"/>
              </a:spcBef>
              <a:spcAft>
                <a:spcPts val="0"/>
              </a:spcAft>
              <a:buSzPts val="1200"/>
              <a:buChar char="●"/>
            </a:pPr>
            <a:r>
              <a:rPr lang="es-419" sz="1200"/>
              <a:t>Tenemos transparencia en el avance del proyecto mediante las reuniones semanales, en donde se revisa el sprint y modificaciones.</a:t>
            </a:r>
            <a:endParaRPr sz="1200"/>
          </a:p>
        </p:txBody>
      </p:sp>
      <p:sp>
        <p:nvSpPr>
          <p:cNvPr id="184" name="Google Shape;184;p26"/>
          <p:cNvSpPr txBox="1"/>
          <p:nvPr/>
        </p:nvSpPr>
        <p:spPr>
          <a:xfrm>
            <a:off x="385400" y="2176500"/>
            <a:ext cx="8453700" cy="30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200">
                <a:solidFill>
                  <a:schemeClr val="dk2"/>
                </a:solidFill>
                <a:latin typeface="Roboto"/>
                <a:ea typeface="Roboto"/>
                <a:cs typeface="Roboto"/>
                <a:sym typeface="Roboto"/>
              </a:rPr>
              <a:t>Factores Facilitadores</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s-419" sz="1200">
                <a:solidFill>
                  <a:schemeClr val="dk2"/>
                </a:solidFill>
                <a:latin typeface="Roboto"/>
                <a:ea typeface="Roboto"/>
                <a:cs typeface="Roboto"/>
                <a:sym typeface="Roboto"/>
              </a:rPr>
              <a:t>Documentación y tutoriales: Amplio documentación de las tecnologías seleccionadas, recursos didácticos y modelos de lenguaje predictivos.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s-419" sz="1200">
                <a:solidFill>
                  <a:schemeClr val="dk2"/>
                </a:solidFill>
                <a:latin typeface="Roboto"/>
                <a:ea typeface="Roboto"/>
                <a:cs typeface="Roboto"/>
                <a:sym typeface="Roboto"/>
              </a:rPr>
              <a:t>Trabajo en equipo: Roles definidos, Alejandro Valdivia (Product Owner), Gabriela Campomanes (Scrum Master), Equipo de desarrollo (Ambos).</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s-419" sz="1200">
                <a:solidFill>
                  <a:schemeClr val="dk2"/>
                </a:solidFill>
                <a:latin typeface="Roboto"/>
                <a:ea typeface="Roboto"/>
                <a:cs typeface="Roboto"/>
                <a:sym typeface="Roboto"/>
              </a:rPr>
              <a:t>Prototipado rápido: Uso de frameworks django para acelerar el desarrollo</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s-419" sz="1200">
                <a:solidFill>
                  <a:schemeClr val="dk2"/>
                </a:solidFill>
                <a:latin typeface="Roboto"/>
                <a:ea typeface="Roboto"/>
                <a:cs typeface="Roboto"/>
                <a:sym typeface="Roboto"/>
              </a:rPr>
              <a:t>Posibles Riesgos y Soluciones</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s-419" sz="1200">
                <a:solidFill>
                  <a:schemeClr val="dk2"/>
                </a:solidFill>
                <a:latin typeface="Roboto"/>
                <a:ea typeface="Roboto"/>
                <a:cs typeface="Roboto"/>
                <a:sym typeface="Roboto"/>
              </a:rPr>
              <a:t>– Riesgo: Complejidad del modelo de ML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s-419" sz="1200">
                <a:solidFill>
                  <a:schemeClr val="dk2"/>
                </a:solidFill>
                <a:latin typeface="Roboto"/>
                <a:ea typeface="Roboto"/>
                <a:cs typeface="Roboto"/>
                <a:sym typeface="Roboto"/>
              </a:rPr>
              <a:t>– Solución: Empezar con algoritmos simples (regresión lineal) antes de probar LSTM.</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s-419" sz="1200">
                <a:solidFill>
                  <a:schemeClr val="dk2"/>
                </a:solidFill>
                <a:latin typeface="Roboto"/>
                <a:ea typeface="Roboto"/>
                <a:cs typeface="Roboto"/>
                <a:sym typeface="Roboto"/>
              </a:rPr>
              <a:t>– Riesgo: Limitaciones de hardware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s-419" sz="1200">
                <a:solidFill>
                  <a:schemeClr val="dk2"/>
                </a:solidFill>
                <a:latin typeface="Roboto"/>
                <a:ea typeface="Roboto"/>
                <a:cs typeface="Roboto"/>
                <a:sym typeface="Roboto"/>
              </a:rPr>
              <a:t>– Solución: Usar servicios cloud gratuitos (Google Colab) para entrenar modelos.</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cxnSp>
        <p:nvCxnSpPr>
          <p:cNvPr id="189" name="Google Shape;189;p27"/>
          <p:cNvCxnSpPr/>
          <p:nvPr/>
        </p:nvCxnSpPr>
        <p:spPr>
          <a:xfrm>
            <a:off x="642132" y="3171584"/>
            <a:ext cx="5818200" cy="0"/>
          </a:xfrm>
          <a:prstGeom prst="straightConnector1">
            <a:avLst/>
          </a:prstGeom>
          <a:noFill/>
          <a:ln cap="flat" cmpd="sng" w="19050">
            <a:solidFill>
              <a:schemeClr val="lt2"/>
            </a:solidFill>
            <a:prstDash val="solid"/>
            <a:round/>
            <a:headEnd len="sm" w="sm" type="none"/>
            <a:tailEnd len="sm" w="sm" type="none"/>
          </a:ln>
        </p:spPr>
      </p:cxnSp>
      <p:pic>
        <p:nvPicPr>
          <p:cNvPr id="190" name="Google Shape;190;p27" title="imagen_2025-06-24_094917824.png"/>
          <p:cNvPicPr preferRelativeResize="0"/>
          <p:nvPr/>
        </p:nvPicPr>
        <p:blipFill rotWithShape="1">
          <a:blip r:embed="rId3">
            <a:alphaModFix/>
          </a:blip>
          <a:srcRect b="22372" l="3366" r="17973" t="0"/>
          <a:stretch/>
        </p:blipFill>
        <p:spPr>
          <a:xfrm>
            <a:off x="65050" y="299725"/>
            <a:ext cx="9013900" cy="2272025"/>
          </a:xfrm>
          <a:prstGeom prst="rect">
            <a:avLst/>
          </a:prstGeom>
          <a:noFill/>
          <a:ln>
            <a:noFill/>
          </a:ln>
        </p:spPr>
      </p:pic>
      <p:sp>
        <p:nvSpPr>
          <p:cNvPr id="191" name="Google Shape;191;p27"/>
          <p:cNvSpPr txBox="1"/>
          <p:nvPr>
            <p:ph idx="4294967295" type="body"/>
          </p:nvPr>
        </p:nvSpPr>
        <p:spPr>
          <a:xfrm>
            <a:off x="479325" y="2674250"/>
            <a:ext cx="5981100" cy="572700"/>
          </a:xfrm>
          <a:prstGeom prst="rect">
            <a:avLst/>
          </a:prstGeom>
        </p:spPr>
        <p:txBody>
          <a:bodyPr anchorCtr="0" anchor="b" bIns="91425" lIns="91425" spcFirstLastPara="1" rIns="91425" wrap="square" tIns="91425">
            <a:normAutofit/>
          </a:bodyPr>
          <a:lstStyle/>
          <a:p>
            <a:pPr indent="0" lvl="0" marL="0" rtl="0" algn="l">
              <a:lnSpc>
                <a:spcPct val="100000"/>
              </a:lnSpc>
              <a:spcBef>
                <a:spcPts val="0"/>
              </a:spcBef>
              <a:spcAft>
                <a:spcPts val="0"/>
              </a:spcAft>
              <a:buNone/>
            </a:pPr>
            <a:r>
              <a:rPr b="1" lang="es-419" sz="2100">
                <a:solidFill>
                  <a:schemeClr val="accent3"/>
                </a:solidFill>
              </a:rPr>
              <a:t>Fases/Trello</a:t>
            </a:r>
            <a:endParaRPr b="1" sz="2100">
              <a:solidFill>
                <a:schemeClr val="accent3"/>
              </a:solidFill>
            </a:endParaRPr>
          </a:p>
        </p:txBody>
      </p:sp>
      <p:sp>
        <p:nvSpPr>
          <p:cNvPr id="192" name="Google Shape;192;p27"/>
          <p:cNvSpPr txBox="1"/>
          <p:nvPr>
            <p:ph idx="4294967295" type="body"/>
          </p:nvPr>
        </p:nvSpPr>
        <p:spPr>
          <a:xfrm>
            <a:off x="479325" y="3309425"/>
            <a:ext cx="5981100" cy="16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52"/>
              <a:buNone/>
            </a:pPr>
            <a:r>
              <a:rPr lang="es-419" sz="1230"/>
              <a:t>Las fases constan de 8 Sprints, actualmente nos encontramos en el Sprint 5.</a:t>
            </a:r>
            <a:endParaRPr sz="1230"/>
          </a:p>
          <a:p>
            <a:pPr indent="-306705" lvl="0" marL="457200" rtl="0" algn="l">
              <a:spcBef>
                <a:spcPts val="1200"/>
              </a:spcBef>
              <a:spcAft>
                <a:spcPts val="0"/>
              </a:spcAft>
              <a:buSzPts val="1230"/>
              <a:buChar char="●"/>
            </a:pPr>
            <a:r>
              <a:rPr lang="es-419" sz="1230"/>
              <a:t>Must Have: 0-4           </a:t>
            </a:r>
            <a:endParaRPr sz="1230"/>
          </a:p>
          <a:p>
            <a:pPr indent="-306705" lvl="0" marL="457200" rtl="0" algn="l">
              <a:spcBef>
                <a:spcPts val="0"/>
              </a:spcBef>
              <a:spcAft>
                <a:spcPts val="0"/>
              </a:spcAft>
              <a:buSzPts val="1230"/>
              <a:buChar char="●"/>
            </a:pPr>
            <a:r>
              <a:rPr lang="es-419" sz="1230"/>
              <a:t>Should Have: 5-6        </a:t>
            </a:r>
            <a:endParaRPr sz="1230"/>
          </a:p>
          <a:p>
            <a:pPr indent="-306705" lvl="0" marL="457200" rtl="0" algn="l">
              <a:spcBef>
                <a:spcPts val="0"/>
              </a:spcBef>
              <a:spcAft>
                <a:spcPts val="0"/>
              </a:spcAft>
              <a:buSzPts val="1230"/>
              <a:buChar char="●"/>
            </a:pPr>
            <a:r>
              <a:rPr lang="es-419" sz="1230"/>
              <a:t>Could Have: 7-8</a:t>
            </a:r>
            <a:endParaRPr sz="123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Problemas durante el desarrollo</a:t>
            </a:r>
            <a:endParaRPr/>
          </a:p>
        </p:txBody>
      </p:sp>
      <p:sp>
        <p:nvSpPr>
          <p:cNvPr id="198" name="Google Shape;198;p28"/>
          <p:cNvSpPr txBox="1"/>
          <p:nvPr>
            <p:ph idx="1" type="body"/>
          </p:nvPr>
        </p:nvSpPr>
        <p:spPr>
          <a:xfrm>
            <a:off x="386550" y="1111950"/>
            <a:ext cx="8481000" cy="29196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s-419"/>
              <a:t>Pérdida</a:t>
            </a:r>
            <a:r>
              <a:rPr lang="es-419"/>
              <a:t> de compañero.</a:t>
            </a:r>
            <a:endParaRPr/>
          </a:p>
          <a:p>
            <a:pPr indent="-342900" lvl="0" marL="457200" rtl="0" algn="l">
              <a:lnSpc>
                <a:spcPct val="150000"/>
              </a:lnSpc>
              <a:spcBef>
                <a:spcPts val="0"/>
              </a:spcBef>
              <a:spcAft>
                <a:spcPts val="0"/>
              </a:spcAft>
              <a:buSzPts val="1800"/>
              <a:buChar char="-"/>
            </a:pPr>
            <a:r>
              <a:rPr lang="es-419"/>
              <a:t>R</a:t>
            </a:r>
            <a:r>
              <a:rPr lang="es-419"/>
              <a:t>eorganización</a:t>
            </a:r>
            <a:r>
              <a:rPr lang="es-419"/>
              <a:t> de tareas. (Distribución, Sprints, Alcances modificados)</a:t>
            </a:r>
            <a:endParaRPr/>
          </a:p>
          <a:p>
            <a:pPr indent="-342900" lvl="0" marL="457200" rtl="0" algn="l">
              <a:lnSpc>
                <a:spcPct val="150000"/>
              </a:lnSpc>
              <a:spcBef>
                <a:spcPts val="0"/>
              </a:spcBef>
              <a:spcAft>
                <a:spcPts val="0"/>
              </a:spcAft>
              <a:buSzPts val="1800"/>
              <a:buChar char="-"/>
            </a:pPr>
            <a:r>
              <a:rPr lang="es-419"/>
              <a:t>R</a:t>
            </a:r>
            <a:r>
              <a:rPr lang="es-419"/>
              <a:t>eorganización</a:t>
            </a:r>
            <a:r>
              <a:rPr lang="es-419"/>
              <a:t> de ideas. (Cambio base de datos, objetivos modificados(ReIn))</a:t>
            </a:r>
            <a:endParaRPr/>
          </a:p>
          <a:p>
            <a:pPr indent="-342900" lvl="0" marL="457200" rtl="0" algn="l">
              <a:lnSpc>
                <a:spcPct val="150000"/>
              </a:lnSpc>
              <a:spcBef>
                <a:spcPts val="0"/>
              </a:spcBef>
              <a:spcAft>
                <a:spcPts val="0"/>
              </a:spcAft>
              <a:buSzPts val="1800"/>
              <a:buChar char="-"/>
            </a:pPr>
            <a:r>
              <a:rPr lang="es-419"/>
              <a:t>Tiempos disponibles.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02" name="Shape 202"/>
        <p:cNvGrpSpPr/>
        <p:nvPr/>
      </p:nvGrpSpPr>
      <p:grpSpPr>
        <a:xfrm>
          <a:off x="0" y="0"/>
          <a:ext cx="0" cy="0"/>
          <a:chOff x="0" y="0"/>
          <a:chExt cx="0" cy="0"/>
        </a:xfrm>
      </p:grpSpPr>
      <p:sp>
        <p:nvSpPr>
          <p:cNvPr id="203" name="Google Shape;203;p29"/>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1600"/>
              </a:spcAft>
              <a:buNone/>
            </a:pPr>
            <a:r>
              <a:rPr lang="es-419"/>
              <a:t>Muestra de proyecto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09" name="Google Shape;209;p30" title="muestra proyecto.mkv">
            <a:hlinkClick r:id="rId3"/>
          </p:cNvPr>
          <p:cNvPicPr preferRelativeResize="0"/>
          <p:nvPr/>
        </p:nvPicPr>
        <p:blipFill>
          <a:blip r:embed="rId4">
            <a:alphaModFix/>
          </a:blip>
          <a:stretch>
            <a:fillRect/>
          </a:stretch>
        </p:blipFill>
        <p:spPr>
          <a:xfrm>
            <a:off x="432550" y="214563"/>
            <a:ext cx="8381126" cy="47143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355350" y="330075"/>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Conclusión</a:t>
            </a:r>
            <a:endParaRPr/>
          </a:p>
        </p:txBody>
      </p:sp>
      <p:sp>
        <p:nvSpPr>
          <p:cNvPr id="215" name="Google Shape;215;p31"/>
          <p:cNvSpPr txBox="1"/>
          <p:nvPr>
            <p:ph idx="1" type="body"/>
          </p:nvPr>
        </p:nvSpPr>
        <p:spPr>
          <a:xfrm>
            <a:off x="355350" y="1189350"/>
            <a:ext cx="8018400" cy="353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es-419" sz="1475"/>
              <a:t>MediTrack logró cumplir exitosamente con su objetivo principal: digitalizar y optimizar la gestión de inventarios médicos mediante una plataforma web funcional y eficiente.</a:t>
            </a:r>
            <a:endParaRPr sz="1475"/>
          </a:p>
          <a:p>
            <a:pPr indent="0" lvl="0" marL="0" rtl="0" algn="l">
              <a:lnSpc>
                <a:spcPct val="95000"/>
              </a:lnSpc>
              <a:spcBef>
                <a:spcPts val="0"/>
              </a:spcBef>
              <a:spcAft>
                <a:spcPts val="0"/>
              </a:spcAft>
              <a:buSzPts val="688"/>
              <a:buNone/>
            </a:pPr>
            <a:r>
              <a:t/>
            </a:r>
            <a:endParaRPr sz="1475"/>
          </a:p>
          <a:p>
            <a:pPr indent="-322262" lvl="0" marL="457200" rtl="0" algn="l">
              <a:lnSpc>
                <a:spcPct val="95000"/>
              </a:lnSpc>
              <a:spcBef>
                <a:spcPts val="0"/>
              </a:spcBef>
              <a:spcAft>
                <a:spcPts val="0"/>
              </a:spcAft>
              <a:buSzPts val="1475"/>
              <a:buChar char="-"/>
            </a:pPr>
            <a:r>
              <a:rPr lang="es-419" sz="1475"/>
              <a:t>Principales logros técnicos:</a:t>
            </a:r>
            <a:endParaRPr sz="1475"/>
          </a:p>
          <a:p>
            <a:pPr indent="0" lvl="0" marL="0" rtl="0" algn="l">
              <a:lnSpc>
                <a:spcPct val="95000"/>
              </a:lnSpc>
              <a:spcBef>
                <a:spcPts val="0"/>
              </a:spcBef>
              <a:spcAft>
                <a:spcPts val="0"/>
              </a:spcAft>
              <a:buSzPts val="688"/>
              <a:buNone/>
            </a:pPr>
            <a:r>
              <a:t/>
            </a:r>
            <a:endParaRPr sz="1475"/>
          </a:p>
          <a:p>
            <a:pPr indent="-322262" lvl="0" marL="457200" rtl="0" algn="l">
              <a:lnSpc>
                <a:spcPct val="95000"/>
              </a:lnSpc>
              <a:spcBef>
                <a:spcPts val="0"/>
              </a:spcBef>
              <a:spcAft>
                <a:spcPts val="0"/>
              </a:spcAft>
              <a:buSzPts val="1475"/>
              <a:buChar char="-"/>
            </a:pPr>
            <a:r>
              <a:rPr lang="es-419" sz="1475"/>
              <a:t>Plataforma web completa desarrollada con PHP, Python, JavaScript y MySQL</a:t>
            </a:r>
            <a:endParaRPr sz="1475"/>
          </a:p>
          <a:p>
            <a:pPr indent="-322262" lvl="0" marL="457200" rtl="0" algn="l">
              <a:lnSpc>
                <a:spcPct val="95000"/>
              </a:lnSpc>
              <a:spcBef>
                <a:spcPts val="0"/>
              </a:spcBef>
              <a:spcAft>
                <a:spcPts val="0"/>
              </a:spcAft>
              <a:buSzPts val="1475"/>
              <a:buChar char="-"/>
            </a:pPr>
            <a:r>
              <a:rPr lang="es-419" sz="1475"/>
              <a:t>Sistema de control de stock en tiempo real</a:t>
            </a:r>
            <a:endParaRPr sz="1475"/>
          </a:p>
          <a:p>
            <a:pPr indent="-322262" lvl="0" marL="457200" rtl="0" algn="l">
              <a:lnSpc>
                <a:spcPct val="95000"/>
              </a:lnSpc>
              <a:spcBef>
                <a:spcPts val="0"/>
              </a:spcBef>
              <a:spcAft>
                <a:spcPts val="0"/>
              </a:spcAft>
              <a:buSzPts val="1475"/>
              <a:buChar char="-"/>
            </a:pPr>
            <a:r>
              <a:rPr lang="es-419" sz="1475"/>
              <a:t>Funcionalidades para agilizar procesos y análisis de datos </a:t>
            </a:r>
            <a:endParaRPr sz="1475"/>
          </a:p>
          <a:p>
            <a:pPr indent="-322262" lvl="0" marL="457200" rtl="0" algn="l">
              <a:lnSpc>
                <a:spcPct val="95000"/>
              </a:lnSpc>
              <a:spcBef>
                <a:spcPts val="0"/>
              </a:spcBef>
              <a:spcAft>
                <a:spcPts val="0"/>
              </a:spcAft>
              <a:buSzPts val="1475"/>
              <a:buChar char="-"/>
            </a:pPr>
            <a:r>
              <a:rPr lang="es-419" sz="1475"/>
              <a:t>Eliminación del uso de papel en procesos de inventario</a:t>
            </a:r>
            <a:endParaRPr sz="1475"/>
          </a:p>
          <a:p>
            <a:pPr indent="-322262" lvl="0" marL="457200" rtl="0" algn="l">
              <a:lnSpc>
                <a:spcPct val="95000"/>
              </a:lnSpc>
              <a:spcBef>
                <a:spcPts val="0"/>
              </a:spcBef>
              <a:spcAft>
                <a:spcPts val="0"/>
              </a:spcAft>
              <a:buSzPts val="1475"/>
              <a:buChar char="-"/>
            </a:pPr>
            <a:r>
              <a:rPr lang="es-419" sz="1475"/>
              <a:t>Predicción futuras compras </a:t>
            </a:r>
            <a:endParaRPr sz="1475"/>
          </a:p>
          <a:p>
            <a:pPr indent="0" lvl="0" marL="0" rtl="0" algn="l">
              <a:lnSpc>
                <a:spcPct val="95000"/>
              </a:lnSpc>
              <a:spcBef>
                <a:spcPts val="0"/>
              </a:spcBef>
              <a:spcAft>
                <a:spcPts val="0"/>
              </a:spcAft>
              <a:buSzPts val="688"/>
              <a:buNone/>
            </a:pPr>
            <a:r>
              <a:t/>
            </a:r>
            <a:endParaRPr sz="1375"/>
          </a:p>
          <a:p>
            <a:pPr indent="0" lvl="0" marL="0" rtl="0" algn="l">
              <a:lnSpc>
                <a:spcPct val="95000"/>
              </a:lnSpc>
              <a:spcBef>
                <a:spcPts val="0"/>
              </a:spcBef>
              <a:spcAft>
                <a:spcPts val="0"/>
              </a:spcAft>
              <a:buSzPts val="688"/>
              <a:buNone/>
            </a:pPr>
            <a:r>
              <a:t/>
            </a:r>
            <a:endParaRPr sz="875"/>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